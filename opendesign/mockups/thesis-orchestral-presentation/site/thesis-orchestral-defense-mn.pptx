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9326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C9A46"/>
                </a:solidFill>
                <a:latin typeface="Aptos Display"/>
              </a:rPr>
              <a:t>Дипломын хамгаалалтын систем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44752"/>
            <a:ext cx="11155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Дипломын ажлын хамгаалалтыг нэг урсгалд удирдах 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9509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4E2"/>
                </a:solidFill>
                <a:latin typeface="Aptos"/>
              </a:rPr>
              <a:t>Оюутан, удирдагч багш, шүүмж багш, админ гэсэн оролцогчдын ажлыг нэг платформд холбож, файл, үнэлгээ, хуваарь, шүүмжийн явцыг ил тод болгоно.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800600"/>
            <a:ext cx="1143000" cy="384048"/>
          </a:xfrm>
          <a:prstGeom prst="roundRect">
            <a:avLst/>
          </a:prstGeom>
          <a:solidFill>
            <a:srgbClr val="007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Next.js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4800600"/>
            <a:ext cx="1143000" cy="384048"/>
          </a:xfrm>
          <a:prstGeom prst="roundRect">
            <a:avLst/>
          </a:prstGeom>
          <a:solidFill>
            <a:srgbClr val="AD4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Fastify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800600"/>
            <a:ext cx="1143000" cy="384048"/>
          </a:xfrm>
          <a:prstGeom prst="roundRect">
            <a:avLst/>
          </a:prstGeom>
          <a:solidFill>
            <a:srgbClr val="CC9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Prisma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4800600"/>
            <a:ext cx="1417320" cy="384048"/>
          </a:xfrm>
          <a:prstGeom prst="roundRect">
            <a:avLst/>
          </a:prstGeom>
          <a:solidFill>
            <a:srgbClr val="007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995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CCCA"/>
                </a:solidFill>
                <a:latin typeface="Aptos"/>
              </a:rPr>
              <a:t>Товч танилцуулга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D4B37"/>
                </a:solidFill>
                <a:latin typeface="Aptos Display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065"/>
                </a:solidFill>
                <a:latin typeface="Aptos"/>
              </a:rPr>
              <a:t>ДИПЛОМЫН ХАМГААЛАЛТЫН 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D2428"/>
                </a:solidFill>
                <a:latin typeface="Aptos Display"/>
              </a:rPr>
              <a:t>Системийн зорилго нь хамгаалалтын ажлыг эмхлэх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13304520" cy="16459"/>
          </a:xfrm>
          <a:prstGeom prst="rect">
            <a:avLst/>
          </a:prstGeom>
          <a:solidFill>
            <a:srgbClr val="D1C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7626096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86065"/>
                </a:solidFill>
                <a:latin typeface="Aptos"/>
              </a:rPr>
              <a:t>Их сургуулийн дипломын ажлын хамгаалалтын удирдлагын систем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4069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1" y="2404872"/>
            <a:ext cx="201168" cy="201168"/>
          </a:xfrm>
          <a:prstGeom prst="ellipse">
            <a:avLst/>
          </a:prstGeom>
          <a:solidFill>
            <a:srgbClr val="AD4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23317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Асуудал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907792"/>
            <a:ext cx="348386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Материал илгээх, багш томилох, хамгаалалтын шат, оноо, засварын явц олон сувгаар тархахад хяналт алдагдана.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85232" y="2148840"/>
            <a:ext cx="4069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41264" y="2404872"/>
            <a:ext cx="201168" cy="201168"/>
          </a:xfrm>
          <a:prstGeom prst="ellipse">
            <a:avLst/>
          </a:prstGeom>
          <a:solidFill>
            <a:srgbClr val="007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3317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Шийдэл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907792"/>
            <a:ext cx="348386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Бүх оролцогч нэг системд нэвтэрч, өөрийн эрхийн хүрээнд ажиллана. Явц, файл, оноо, шүүмж нэг өгөгдлийн загварт хадгалагдана.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2148840"/>
            <a:ext cx="4069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40111" y="2404872"/>
            <a:ext cx="201168" cy="201168"/>
          </a:xfrm>
          <a:prstGeom prst="ellipse">
            <a:avLst/>
          </a:prstGeom>
          <a:solidFill>
            <a:srgbClr val="CC9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1007" y="23317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Үр дүн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76688" y="2907792"/>
            <a:ext cx="348386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Админ зохион байгуулалтаа, багш үнэлгээ ба шүүмжээ, оюутан материалаа нэг мөр урсгалаар гүйцэтгэх боломжтой.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86C"/>
                </a:solidFill>
                <a:latin typeface="Aptos"/>
              </a:rPr>
              <a:t>Гол санаа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7900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D2428"/>
                </a:solidFill>
                <a:latin typeface="Aptos Display"/>
              </a:rPr>
              <a:t>Дипломын хамгаалалтыг “файл солилцоо” биш, төлөвтэй ажлын урсгал болгон загварчилсан.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D4B37"/>
                </a:solidFill>
                <a:latin typeface="Aptos Display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065"/>
                </a:solidFill>
                <a:latin typeface="Aptos"/>
              </a:rPr>
              <a:t>ДИПЛОМЫН ХАМГААЛАЛТЫН 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D2428"/>
                </a:solidFill>
                <a:latin typeface="Aptos Display"/>
              </a:rPr>
              <a:t>Хэрэглэгчийн дүр бүр тодорхой үүрэгтэй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13304520" cy="16459"/>
          </a:xfrm>
          <a:prstGeom prst="rect">
            <a:avLst/>
          </a:prstGeom>
          <a:solidFill>
            <a:srgbClr val="D1C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7626096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86065"/>
                </a:solidFill>
                <a:latin typeface="Aptos"/>
              </a:rPr>
              <a:t>Их сургуулийн дипломын ажлын хамгаалалтын удирдлагын систем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240280"/>
            <a:ext cx="297180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496312"/>
            <a:ext cx="201168" cy="201168"/>
          </a:xfrm>
          <a:prstGeom prst="ellipse">
            <a:avLst/>
          </a:prstGeom>
          <a:solidFill>
            <a:srgbClr val="AD4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8176" y="242316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Админ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999232"/>
            <a:ext cx="238658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Хэрэглэгч, улирал, зэрэг, шүүмжийн бүлэг, хамгаалалтын хуваарь, статистикийг удирдана.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78808" y="2240280"/>
            <a:ext cx="297180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2496312"/>
            <a:ext cx="201168" cy="201168"/>
          </a:xfrm>
          <a:prstGeom prst="ellipse">
            <a:avLst/>
          </a:prstGeom>
          <a:solidFill>
            <a:srgbClr val="007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5736" y="242316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Оюутан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999232"/>
            <a:ext cx="238658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Сэдэв, товч агуулга, түлхүүр үг, ажлын файлууд, хамгаалалтын оноо, шүүмжийн засвараа харна.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16368" y="2240280"/>
            <a:ext cx="297180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2496312"/>
            <a:ext cx="201168" cy="201168"/>
          </a:xfrm>
          <a:prstGeom prst="ellipse">
            <a:avLst/>
          </a:prstGeom>
          <a:solidFill>
            <a:srgbClr val="CC9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3296" y="242316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Удирдагч багш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6" y="2999232"/>
            <a:ext cx="238658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Өөрийн удирдсан оюутнуудын ажлыг хянаж, эхний хамгаалалтын үнэлгээнд оролцоно.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53928" y="2240280"/>
            <a:ext cx="297180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09959" y="2496312"/>
            <a:ext cx="201168" cy="201168"/>
          </a:xfrm>
          <a:prstGeom prst="ellipse">
            <a:avLst/>
          </a:prstGeom>
          <a:solidFill>
            <a:srgbClr val="132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20855" y="242316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Шүүмж багш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6536" y="2999232"/>
            <a:ext cx="238658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Бүлгийн оюутнуудад санал, шаардлагатай өөрчлөлт, эцсийн дүгнэлт өгнө.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897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D4B37"/>
                </a:solidFill>
                <a:latin typeface="Aptos"/>
              </a:rPr>
              <a:t>Эрхийн шалгалт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630936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D2428"/>
                </a:solidFill>
                <a:latin typeface="Aptos"/>
              </a:defRPr>
            </a:pPr>
            <a:r>
              <a:t>Оюутан зөвхөн өөрийн дипломын ажлыг харна.</a:t>
            </a:r>
          </a:p>
          <a:p>
            <a:pPr>
              <a:spcAft>
                <a:spcPts val="700"/>
              </a:spcAft>
              <a:defRPr sz="1600">
                <a:solidFill>
                  <a:srgbClr val="1D2428"/>
                </a:solidFill>
                <a:latin typeface="Aptos"/>
              </a:defRPr>
            </a:pPr>
            <a:r>
              <a:t>Багш зөвхөн удирдсан эсвэл шүүмжийн бүлэгт хамаарах ажлыг үнэлнэ.</a:t>
            </a:r>
          </a:p>
          <a:p>
            <a:pPr>
              <a:spcAft>
                <a:spcPts val="700"/>
              </a:spcAft>
              <a:defRPr sz="1600">
                <a:solidFill>
                  <a:srgbClr val="1D2428"/>
                </a:solidFill>
                <a:latin typeface="Aptos"/>
              </a:defRPr>
            </a:pPr>
            <a:r>
              <a:t>Админ бүх зохион байгуулалтын мэдээллийг удирдана.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D4B37"/>
                </a:solidFill>
                <a:latin typeface="Aptos Display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065"/>
                </a:solidFill>
                <a:latin typeface="Aptos"/>
              </a:rPr>
              <a:t>ДИПЛОМЫН ХАМГААЛАЛТЫН 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D2428"/>
                </a:solidFill>
                <a:latin typeface="Aptos Display"/>
              </a:rPr>
              <a:t>Дипломын ажил шаттай ажлын урсгалаар явна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13304520" cy="16459"/>
          </a:xfrm>
          <a:prstGeom prst="rect">
            <a:avLst/>
          </a:prstGeom>
          <a:solidFill>
            <a:srgbClr val="D1C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7626096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86065"/>
                </a:solidFill>
                <a:latin typeface="Aptos"/>
              </a:rPr>
              <a:t>Их сургуулийн дипломын ажлын хамгаалалтын удирдлагын систем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743200"/>
            <a:ext cx="1143000" cy="1143000"/>
          </a:xfrm>
          <a:prstGeom prst="ellipse">
            <a:avLst/>
          </a:prstGeom>
          <a:solidFill>
            <a:srgbClr val="AD4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44368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187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D2428"/>
                </a:solidFill>
                <a:latin typeface="Aptos"/>
              </a:rPr>
              <a:t>Ноорог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46177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86065"/>
                </a:solidFill>
                <a:latin typeface="Aptos"/>
              </a:rPr>
              <a:t>Оюутан сэдэв, агуулга, файл бүрдүүлнэ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47672" y="3310128"/>
            <a:ext cx="1453896" cy="0"/>
          </a:xfrm>
          <a:prstGeom prst="line">
            <a:avLst/>
          </a:prstGeom>
          <a:ln w="27940">
            <a:solidFill>
              <a:srgbClr val="007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71700" y="296265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786C"/>
                </a:solidFill>
                <a:latin typeface="Aptos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3474720" y="2743200"/>
            <a:ext cx="1143000" cy="1143000"/>
          </a:xfrm>
          <a:prstGeom prst="ellipse">
            <a:avLst/>
          </a:prstGeom>
          <a:solidFill>
            <a:srgbClr val="007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944368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39" y="4187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D2428"/>
                </a:solidFill>
                <a:latin typeface="Aptos"/>
              </a:rPr>
              <a:t>Илгээсэн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39" y="46177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86065"/>
                </a:solidFill>
                <a:latin typeface="Aptos"/>
              </a:rPr>
              <a:t>Удирдагч болон админ хянана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90872" y="3310128"/>
            <a:ext cx="1453896" cy="0"/>
          </a:xfrm>
          <a:prstGeom prst="line">
            <a:avLst/>
          </a:prstGeom>
          <a:ln w="27940">
            <a:solidFill>
              <a:srgbClr val="007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14900" y="296265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786C"/>
                </a:solidFill>
                <a:latin typeface="Aptos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2743200"/>
            <a:ext cx="1143000" cy="1143000"/>
          </a:xfrm>
          <a:prstGeom prst="ellipse">
            <a:avLst/>
          </a:prstGeom>
          <a:solidFill>
            <a:srgbClr val="CC9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944368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4187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D2428"/>
                </a:solidFill>
                <a:latin typeface="Aptos"/>
              </a:rPr>
              <a:t>Хамгаалалт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6177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86065"/>
                </a:solidFill>
                <a:latin typeface="Aptos"/>
              </a:rPr>
              <a:t>1-3-р шатны оноо бүртгэнэ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34071" y="3310128"/>
            <a:ext cx="1453897" cy="0"/>
          </a:xfrm>
          <a:prstGeom prst="line">
            <a:avLst/>
          </a:prstGeom>
          <a:ln w="27940">
            <a:solidFill>
              <a:srgbClr val="007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58100" y="296265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786C"/>
                </a:solidFill>
                <a:latin typeface="Aptos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8961120" y="2743200"/>
            <a:ext cx="1143000" cy="1143000"/>
          </a:xfrm>
          <a:prstGeom prst="ellipse">
            <a:avLst/>
          </a:prstGeom>
          <a:solidFill>
            <a:srgbClr val="132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2944368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187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D2428"/>
                </a:solidFill>
                <a:latin typeface="Aptos"/>
              </a:rPr>
              <a:t>Шүүмж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6177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86065"/>
                </a:solidFill>
                <a:latin typeface="Aptos"/>
              </a:rPr>
              <a:t>Шүүмж багш санал, засвар өгнө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177272" y="3310128"/>
            <a:ext cx="1453896" cy="0"/>
          </a:xfrm>
          <a:prstGeom prst="line">
            <a:avLst/>
          </a:prstGeom>
          <a:ln w="27940">
            <a:solidFill>
              <a:srgbClr val="007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401300" y="296265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786C"/>
                </a:solidFill>
                <a:latin typeface="Aptos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11704320" y="2743200"/>
            <a:ext cx="1143000" cy="1143000"/>
          </a:xfrm>
          <a:prstGeom prst="ellipse">
            <a:avLst/>
          </a:prstGeom>
          <a:solidFill>
            <a:srgbClr val="007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0" y="2944368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4187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D2428"/>
                </a:solidFill>
                <a:latin typeface="Aptos"/>
              </a:rPr>
              <a:t>Дууссан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46177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86065"/>
                </a:solidFill>
                <a:latin typeface="Aptos"/>
              </a:rPr>
              <a:t>Эцсийн хамгаалалтад бэлэн болно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172200"/>
            <a:ext cx="1207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D2428"/>
                </a:solidFill>
                <a:latin typeface="Aptos Display"/>
              </a:rPr>
              <a:t>Төлөвүүд нь Prisma enum хэлбэрээр тодорхойлогдсон тул frontend, backend, өгөгдлийн сан нэг ойлголтоор ажиллана.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D4B37"/>
                </a:solidFill>
                <a:latin typeface="Aptos Display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065"/>
                </a:solidFill>
                <a:latin typeface="Aptos"/>
              </a:rPr>
              <a:t>ДИПЛОМЫН ХАМГААЛАЛТЫН 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D2428"/>
                </a:solidFill>
                <a:latin typeface="Aptos Display"/>
              </a:rPr>
              <a:t>Архитектур нь энгийн боловч өргөтгөхөд бэлэн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13304520" cy="16459"/>
          </a:xfrm>
          <a:prstGeom prst="rect">
            <a:avLst/>
          </a:prstGeom>
          <a:solidFill>
            <a:srgbClr val="D1C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7626096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86065"/>
                </a:solidFill>
                <a:latin typeface="Aptos"/>
              </a:rPr>
              <a:t>Их сургуулийн дипломын ажлын хамгаалалтын удирдлагын систем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28346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432" y="2542032"/>
            <a:ext cx="201168" cy="201168"/>
          </a:xfrm>
          <a:prstGeom prst="ellipse">
            <a:avLst/>
          </a:prstGeom>
          <a:solidFill>
            <a:srgbClr val="007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24688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Хэрэглэгчийн тал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044952"/>
            <a:ext cx="224942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Next.js App Router
TypeScript
Tailwind CSS
Framer Motion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22191" y="3730752"/>
            <a:ext cx="274321" cy="0"/>
          </a:xfrm>
          <a:prstGeom prst="line">
            <a:avLst/>
          </a:prstGeom>
          <a:ln w="27940">
            <a:solidFill>
              <a:srgbClr val="007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56432" y="338328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786C"/>
                </a:solidFill>
                <a:latin typeface="Aptos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286000"/>
            <a:ext cx="28346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16552" y="2542032"/>
            <a:ext cx="201168" cy="201168"/>
          </a:xfrm>
          <a:prstGeom prst="ellipse">
            <a:avLst/>
          </a:prstGeom>
          <a:solidFill>
            <a:srgbClr val="AD4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4688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API давхарга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3044952"/>
            <a:ext cx="224942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Fastify
JWT нэвтрэлт
Swagger баримт
Zod шалгалт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68312" y="3730752"/>
            <a:ext cx="274320" cy="0"/>
          </a:xfrm>
          <a:prstGeom prst="line">
            <a:avLst/>
          </a:prstGeom>
          <a:ln w="27940">
            <a:solidFill>
              <a:srgbClr val="007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02552" y="338328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786C"/>
                </a:solidFill>
                <a:latin typeface="Aptos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2286000"/>
            <a:ext cx="28346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62671" y="2542032"/>
            <a:ext cx="201168" cy="201168"/>
          </a:xfrm>
          <a:prstGeom prst="ellipse">
            <a:avLst/>
          </a:prstGeom>
          <a:solidFill>
            <a:srgbClr val="CC9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7" y="24688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Өгөгдөл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3044952"/>
            <a:ext cx="224942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Prisma ORM
PostgreSQL
Migration
Seed өгөгдөл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314432" y="3730752"/>
            <a:ext cx="274320" cy="0"/>
          </a:xfrm>
          <a:prstGeom prst="line">
            <a:avLst/>
          </a:prstGeom>
          <a:ln w="27940">
            <a:solidFill>
              <a:srgbClr val="007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948672" y="338328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786C"/>
                </a:solidFill>
                <a:latin typeface="Aptos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52759" y="2286000"/>
            <a:ext cx="28346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08791" y="2542032"/>
            <a:ext cx="201168" cy="201168"/>
          </a:xfrm>
          <a:prstGeom prst="ellipse">
            <a:avLst/>
          </a:prstGeom>
          <a:solidFill>
            <a:srgbClr val="132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19687" y="24688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Байршуулалт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45367" y="3044952"/>
            <a:ext cx="224942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Docker Compose
Nginx reverse proxy
Certbot SSL
Volume хадгалалт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17220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86C"/>
                </a:solidFill>
                <a:latin typeface="Aptos"/>
              </a:rPr>
              <a:t>Дотоод үйлчилгээний бэлтгэл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547104"/>
            <a:ext cx="1252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86065"/>
                </a:solidFill>
                <a:latin typeface="Aptos"/>
              </a:rPr>
              <a:t>Repository-д API gateway болон model-orchestrator үйлчилгээний суурь код байгаа нь цаашид AI inference эсвэл тусдаа backend үйлчилгээ нэмэх боломжийг үлдээсэн.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D4B37"/>
                </a:solidFill>
                <a:latin typeface="Aptos Display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065"/>
                </a:solidFill>
                <a:latin typeface="Aptos"/>
              </a:rPr>
              <a:t>ДИПЛОМЫН ХАМГААЛАЛТЫН 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D2428"/>
                </a:solidFill>
                <a:latin typeface="Aptos Display"/>
              </a:rPr>
              <a:t>Өгөгдлийн загвар нь хамгаалалтын бодит харилцааг барина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13304520" cy="16459"/>
          </a:xfrm>
          <a:prstGeom prst="rect">
            <a:avLst/>
          </a:prstGeom>
          <a:solidFill>
            <a:srgbClr val="D1C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7626096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86065"/>
                </a:solidFill>
                <a:latin typeface="Aptos"/>
              </a:rPr>
              <a:t>Их сургуулийн дипломын ажлын хамгаалалтын удирдлагын систем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D4B37"/>
                </a:solidFill>
                <a:latin typeface="Aptos"/>
              </a:rPr>
              <a:t>Гол entity-үүд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D2428"/>
                </a:solidFill>
                <a:latin typeface="Aptos"/>
              </a:defRPr>
            </a:pPr>
            <a:r>
              <a:t>User, StudentProfile, TeacherProfile</a:t>
            </a:r>
          </a:p>
          <a:p>
            <a:pPr>
              <a:spcAft>
                <a:spcPts val="700"/>
              </a:spcAft>
              <a:defRPr sz="1600">
                <a:solidFill>
                  <a:srgbClr val="1D2428"/>
                </a:solidFill>
                <a:latin typeface="Aptos"/>
              </a:defRPr>
            </a:pPr>
            <a:r>
              <a:t>Thesis, ThesisFile, DefenseStage</a:t>
            </a:r>
          </a:p>
          <a:p>
            <a:pPr>
              <a:spcAft>
                <a:spcPts val="700"/>
              </a:spcAft>
              <a:defRPr sz="1600">
                <a:solidFill>
                  <a:srgbClr val="1D2428"/>
                </a:solidFill>
                <a:latin typeface="Aptos"/>
              </a:defRPr>
            </a:pPr>
            <a:r>
              <a:t>DefenseSchedule, DefenseScore</a:t>
            </a:r>
          </a:p>
          <a:p>
            <a:pPr>
              <a:spcAft>
                <a:spcPts val="700"/>
              </a:spcAft>
              <a:defRPr sz="1600">
                <a:solidFill>
                  <a:srgbClr val="1D2428"/>
                </a:solidFill>
                <a:latin typeface="Aptos"/>
              </a:defRPr>
            </a:pPr>
            <a:r>
              <a:t>CritiqueGroup, CritiqueReview</a:t>
            </a:r>
          </a:p>
          <a:p>
            <a:pPr>
              <a:spcAft>
                <a:spcPts val="700"/>
              </a:spcAft>
              <a:defRPr sz="1600">
                <a:solidFill>
                  <a:srgbClr val="1D2428"/>
                </a:solidFill>
                <a:latin typeface="Aptos"/>
              </a:defRPr>
            </a:pPr>
            <a:r>
              <a:t>AcademicSeason, DegreeType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21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86C"/>
                </a:solidFill>
                <a:latin typeface="Aptos"/>
              </a:rPr>
              <a:t>API гадаргуу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D2428"/>
                </a:solidFill>
                <a:latin typeface="Aptos"/>
              </a:defRPr>
            </a:pPr>
            <a:r>
              <a:t>/api/auth/login, /api/auth/me</a:t>
            </a:r>
          </a:p>
          <a:p>
            <a:pPr>
              <a:spcAft>
                <a:spcPts val="700"/>
              </a:spcAft>
              <a:defRPr sz="1600">
                <a:solidFill>
                  <a:srgbClr val="1D2428"/>
                </a:solidFill>
                <a:latin typeface="Aptos"/>
              </a:defRPr>
            </a:pPr>
            <a:r>
              <a:t>/api/theses, /api/theses/:id/files</a:t>
            </a:r>
          </a:p>
          <a:p>
            <a:pPr>
              <a:spcAft>
                <a:spcPts val="700"/>
              </a:spcAft>
              <a:defRPr sz="1600">
                <a:solidFill>
                  <a:srgbClr val="1D2428"/>
                </a:solidFill>
                <a:latin typeface="Aptos"/>
              </a:defRPr>
            </a:pPr>
            <a:r>
              <a:t>/api/admin/users, /api/admin/schedules</a:t>
            </a:r>
          </a:p>
          <a:p>
            <a:pPr>
              <a:spcAft>
                <a:spcPts val="700"/>
              </a:spcAft>
              <a:defRPr sz="1600">
                <a:solidFill>
                  <a:srgbClr val="1D2428"/>
                </a:solidFill>
                <a:latin typeface="Aptos"/>
              </a:defRPr>
            </a:pPr>
            <a:r>
              <a:t>/api/critique-groups, /api/critiques</a:t>
            </a:r>
          </a:p>
          <a:p>
            <a:pPr>
              <a:spcAft>
                <a:spcPts val="700"/>
              </a:spcAft>
              <a:defRPr sz="1600">
                <a:solidFill>
                  <a:srgbClr val="1D2428"/>
                </a:solidFill>
                <a:latin typeface="Aptos"/>
              </a:defRPr>
            </a:pPr>
            <a:r>
              <a:t>/api/statistics/overview, /docs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C9A46"/>
                </a:solidFill>
                <a:latin typeface="Aptos"/>
              </a:rPr>
              <a:t>Давуу тал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25312"/>
            <a:ext cx="11887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2428"/>
                </a:solidFill>
                <a:latin typeface="Aptos Display"/>
              </a:rPr>
              <a:t>Оноо, шүүмж, файл, хуваарь тусдаа хүснэгт боловч Thesis төвтэй холбогддог. Ингэснээр хэрэглэгчийн самбар дээр нэг ажлын бүрэн түүхийг харуулах боломжтой.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D4B37"/>
                </a:solidFill>
                <a:latin typeface="Aptos Display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065"/>
                </a:solidFill>
                <a:latin typeface="Aptos"/>
              </a:rPr>
              <a:t>ДИПЛОМЫН ХАМГААЛАЛТЫН 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D2428"/>
                </a:solidFill>
                <a:latin typeface="Aptos Display"/>
              </a:rPr>
              <a:t>Аюулгүй байдал ба байршуулалт үндсэн түвшинд шийдэгдсэн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13304520" cy="16459"/>
          </a:xfrm>
          <a:prstGeom prst="rect">
            <a:avLst/>
          </a:prstGeom>
          <a:solidFill>
            <a:srgbClr val="D1C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7626096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86065"/>
                </a:solidFill>
                <a:latin typeface="Aptos"/>
              </a:rPr>
              <a:t>Их сургуулийн дипломын ажлын хамгаалалтын удирдлагын систем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374903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432" y="2450591"/>
            <a:ext cx="201168" cy="201168"/>
          </a:xfrm>
          <a:prstGeom prst="ellipse">
            <a:avLst/>
          </a:prstGeom>
          <a:solidFill>
            <a:srgbClr val="007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2377440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Нэвтрэлт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953512"/>
            <a:ext cx="3163823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Имэйл, нууц үг, bcrypt hash, JWT token, /api/auth/me endpoint.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194560"/>
            <a:ext cx="374903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96712" y="2450591"/>
            <a:ext cx="201168" cy="201168"/>
          </a:xfrm>
          <a:prstGeom prst="ellipse">
            <a:avLst/>
          </a:prstGeom>
          <a:solidFill>
            <a:srgbClr val="AD4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7608" y="2377440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Эрхийн хяналт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3288" y="2953512"/>
            <a:ext cx="3163823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Админ, оюутан, багшийн дүр болон багшийн төрлөөр thesis access, score permission шалгана.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2194560"/>
            <a:ext cx="374903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22992" y="2450591"/>
            <a:ext cx="201168" cy="201168"/>
          </a:xfrm>
          <a:prstGeom prst="ellipse">
            <a:avLst/>
          </a:prstGeom>
          <a:solidFill>
            <a:srgbClr val="CC9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33888" y="2377440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Байршуулалт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59568" y="2953512"/>
            <a:ext cx="3163823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Hetzner VPS дээр Docker Compose, host Nginx reverse proxy, Certbot SSL, named volumes ашиглана.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D4B37"/>
                </a:solidFill>
                <a:latin typeface="Aptos"/>
              </a:rPr>
              <a:t>Анхаарах зүйл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60720"/>
            <a:ext cx="11795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D2428"/>
                </a:solidFill>
                <a:latin typeface="Aptos"/>
              </a:defRPr>
            </a:pPr>
            <a:r>
              <a:t>Production JWT_SECRET заавал урт, санамсаргүй байх ёстой.</a:t>
            </a:r>
          </a:p>
          <a:p>
            <a:pPr>
              <a:spcAft>
                <a:spcPts val="700"/>
              </a:spcAft>
              <a:defRPr sz="1600">
                <a:solidFill>
                  <a:srgbClr val="1D2428"/>
                </a:solidFill>
                <a:latin typeface="Aptos"/>
              </a:defRPr>
            </a:pPr>
            <a:r>
              <a:t>Migration хийхийн өмнө postgres-data болон uploads-data volume-ийг нөөцлөх хэрэгтэй.</a:t>
            </a:r>
          </a:p>
          <a:p>
            <a:pPr>
              <a:spcAft>
                <a:spcPts val="700"/>
              </a:spcAft>
              <a:defRPr sz="1600">
                <a:solidFill>
                  <a:srgbClr val="1D2428"/>
                </a:solidFill>
                <a:latin typeface="Aptos"/>
              </a:defRPr>
            </a:pPr>
            <a:r>
              <a:t>Файл хадгалалт одоогоор local volume; дараагийн шатанд S3/R2 abstraction руу шилжүүлж болно.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D4B37"/>
                </a:solidFill>
                <a:latin typeface="Aptos Display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065"/>
                </a:solidFill>
                <a:latin typeface="Aptos"/>
              </a:rPr>
              <a:t>ДИПЛОМЫН ХАМГААЛАЛТЫН 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D2428"/>
                </a:solidFill>
                <a:latin typeface="Aptos Display"/>
              </a:rPr>
              <a:t>Сүүлийн өөрчлөлтүүд deploy хийхэд чиглэсэн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13304520" cy="16459"/>
          </a:xfrm>
          <a:prstGeom prst="rect">
            <a:avLst/>
          </a:prstGeom>
          <a:solidFill>
            <a:srgbClr val="D1C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7626096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86065"/>
                </a:solidFill>
                <a:latin typeface="Aptos"/>
              </a:rPr>
              <a:t>Их сургуулийн дипломын ажлын хамгаалалтын удирдлагын систем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40690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1" y="2404872"/>
            <a:ext cx="201168" cy="201168"/>
          </a:xfrm>
          <a:prstGeom prst="ellipse">
            <a:avLst/>
          </a:prstGeom>
          <a:solidFill>
            <a:srgbClr val="007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23317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CI/CD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907792"/>
            <a:ext cx="348386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GitHub Actions дээр backend, frontend, Docker production build шалгалт ажиллана. main руу push хийхэд Hetzner deploy job ажиллах бүтэц нэмсэн.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85232" y="2148840"/>
            <a:ext cx="40690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41264" y="2404872"/>
            <a:ext cx="201168" cy="201168"/>
          </a:xfrm>
          <a:prstGeom prst="ellipse">
            <a:avLst/>
          </a:prstGeom>
          <a:solidFill>
            <a:srgbClr val="AD4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3317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Production compose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907792"/>
            <a:ext cx="348386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PostgreSQL, backend, frontend service-үүдийг production env, healthcheck, localhost port binding, Docker volume-той болгож эмхэлсэн.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2148840"/>
            <a:ext cx="40690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40111" y="2404872"/>
            <a:ext cx="201168" cy="201168"/>
          </a:xfrm>
          <a:prstGeom prst="ellipse">
            <a:avLst/>
          </a:prstGeom>
          <a:solidFill>
            <a:srgbClr val="CC9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1007" y="23317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Deploy 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76688" y="2907792"/>
            <a:ext cx="348386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Server дээр exact commit checkout, compose config validation, database readiness, Prisma migration, healthcheck дарааллаар ажилладаг болгосон.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32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86C"/>
                </a:solidFill>
                <a:latin typeface="Aptos"/>
              </a:rPr>
              <a:t>Review дүгнэлт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25312"/>
            <a:ext cx="1216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2428"/>
                </a:solidFill>
                <a:latin typeface="Aptos Display"/>
              </a:rPr>
              <a:t>Төсөл локал demo-оос VPS дээр давтагдахуйц deploy хийх шат руу шилжсэн. Одоо үлдэж буй гол эрсдэл нь production secret rotation, DNS тогтвортой байдал, backup discipline.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D4B37"/>
                </a:solidFill>
                <a:latin typeface="Aptos Display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065"/>
                </a:solidFill>
                <a:latin typeface="Aptos"/>
              </a:rPr>
              <a:t>ДИПЛОМЫН ХАМГААЛАЛТЫН 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D2428"/>
                </a:solidFill>
                <a:latin typeface="Aptos Display"/>
              </a:rPr>
              <a:t>AI моделийн хэсэг одоогоор orchestration суурьтай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13304520" cy="16459"/>
          </a:xfrm>
          <a:prstGeom prst="rect">
            <a:avLst/>
          </a:prstGeom>
          <a:solidFill>
            <a:srgbClr val="D1C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7626096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86065"/>
                </a:solidFill>
                <a:latin typeface="Aptos"/>
              </a:rPr>
              <a:t>Их сургуулийн дипломын ажлын хамгаалалтын удирдлагын систем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3977639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992" y="2404872"/>
            <a:ext cx="201168" cy="201168"/>
          </a:xfrm>
          <a:prstGeom prst="ellipse">
            <a:avLst/>
          </a:prstGeom>
          <a:solidFill>
            <a:srgbClr val="007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2331720"/>
            <a:ext cx="3154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Model registry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907792"/>
            <a:ext cx="3392423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demo-orchestral-classifier placeholder model идэвхтэй. score analysis болон GPU inference model-ууд disabled байдлаар ирээдүйн өргөтгөлд бүртгэгдсэн.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148840"/>
            <a:ext cx="3977639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59552" y="2404872"/>
            <a:ext cx="201168" cy="201168"/>
          </a:xfrm>
          <a:prstGeom prst="ellipse">
            <a:avLst/>
          </a:prstGeom>
          <a:solidFill>
            <a:srgbClr val="AD4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70448" y="2331720"/>
            <a:ext cx="3154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Pipeline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6128" y="2907792"/>
            <a:ext cx="3392423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Request ирэхэд model сонгоно, disabled model-ийг хориглоно, дараа нь demo inference service рүү дамжуулна.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2148840"/>
            <a:ext cx="3977639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40111" y="2404872"/>
            <a:ext cx="201168" cy="201168"/>
          </a:xfrm>
          <a:prstGeom prst="ellipse">
            <a:avLst/>
          </a:prstGeom>
          <a:solidFill>
            <a:srgbClr val="CC9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1007" y="2331720"/>
            <a:ext cx="3154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API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76688" y="2907792"/>
            <a:ext cx="3392423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Frontend request /api/inference/demo endpoint-оор орж, gateway model-orchestrator service рүү proxy хийдэг.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715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D4B37"/>
                </a:solidFill>
                <a:latin typeface="Aptos"/>
              </a:rPr>
              <a:t>Одоогийн хязгаар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126480"/>
            <a:ext cx="12070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D2428"/>
                </a:solidFill>
                <a:latin typeface="Aptos"/>
              </a:defRPr>
            </a:pPr>
            <a:r>
              <a:t>Бодит ML model хараахан холбогдоогүй, placeholder хариу буцаадаг.</a:t>
            </a:r>
          </a:p>
          <a:p>
            <a:pPr>
              <a:spcAft>
                <a:spcPts val="700"/>
              </a:spcAft>
              <a:defRPr sz="1600">
                <a:solidFill>
                  <a:srgbClr val="1D2428"/>
                </a:solidFill>
                <a:latin typeface="Aptos"/>
              </a:defRPr>
            </a:pPr>
            <a:r>
              <a:t>Input validation байгаа ч model-ийн audit log, rate limit, tenant isolation дараагийн шатанд хэрэгтэй.</a:t>
            </a:r>
          </a:p>
          <a:p>
            <a:pPr>
              <a:spcAft>
                <a:spcPts val="700"/>
              </a:spcAft>
              <a:defRPr sz="1600">
                <a:solidFill>
                  <a:srgbClr val="1D2428"/>
                </a:solidFill>
                <a:latin typeface="Aptos"/>
              </a:defRPr>
            </a:pPr>
            <a:r>
              <a:t>Python model server эсвэл GPU container нэмэх service boundary бэлэн байна.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D4B37"/>
                </a:solidFill>
                <a:latin typeface="Aptos Display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065"/>
                </a:solidFill>
                <a:latin typeface="Aptos"/>
              </a:rPr>
              <a:t>ДИПЛОМЫН ХАМГААЛАЛТЫН 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D2428"/>
                </a:solidFill>
                <a:latin typeface="Aptos Display"/>
              </a:rPr>
              <a:t>Hetzner deploy нь DNS, Nginx, SSL гэсэн гурван давхаргатай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13304520" cy="16459"/>
          </a:xfrm>
          <a:prstGeom prst="rect">
            <a:avLst/>
          </a:prstGeom>
          <a:solidFill>
            <a:srgbClr val="D1C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7626096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86065"/>
                </a:solidFill>
                <a:latin typeface="Aptos"/>
              </a:rPr>
              <a:t>Их сургуулийн дипломын ажлын хамгаалалтын удирдлагын систем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240280"/>
            <a:ext cx="28346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" y="2496312"/>
            <a:ext cx="201168" cy="201168"/>
          </a:xfrm>
          <a:prstGeom prst="ellipse">
            <a:avLst/>
          </a:prstGeom>
          <a:solidFill>
            <a:srgbClr val="007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35607" y="24231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DNS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999232"/>
            <a:ext cx="224942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DuckDNS subdomain нь server-ийн зөв IPv4 рүү заана.
Одоогийн server IP: 95.217.17.127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40280"/>
            <a:ext cx="28346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70832" y="2496312"/>
            <a:ext cx="201168" cy="201168"/>
          </a:xfrm>
          <a:prstGeom prst="ellipse">
            <a:avLst/>
          </a:prstGeom>
          <a:solidFill>
            <a:srgbClr val="AD4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24231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Nginx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999232"/>
            <a:ext cx="224942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80/443 traffic-ийг frontend болон /api, /health backend route руу proxy хийнэ.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19" y="2240280"/>
            <a:ext cx="28346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1" y="2496312"/>
            <a:ext cx="201168" cy="201168"/>
          </a:xfrm>
          <a:prstGeom prst="ellipse">
            <a:avLst/>
          </a:prstGeom>
          <a:solidFill>
            <a:srgbClr val="CC9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7" y="24231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Docker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7" y="2999232"/>
            <a:ext cx="224942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Postgres, backend, frontend container-ууд healthcheck-тэй ажиллана.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07039" y="2240280"/>
            <a:ext cx="28346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63071" y="2496312"/>
            <a:ext cx="201168" cy="201168"/>
          </a:xfrm>
          <a:prstGeom prst="ellipse">
            <a:avLst/>
          </a:prstGeom>
          <a:solidFill>
            <a:srgbClr val="132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73967" y="24231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SSL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99647" y="2999232"/>
            <a:ext cx="224942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Certbot нь public DNS зөв resolve болсон үед Let's Encrypt certificate авна.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172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86C"/>
                </a:solidFill>
                <a:latin typeface="Aptos"/>
              </a:rPr>
              <a:t>Deploy сургамж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528816"/>
            <a:ext cx="1207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86065"/>
                </a:solidFill>
                <a:latin typeface="Aptos"/>
              </a:rPr>
              <a:t>Application layer эрүүл байсан ч DNS буруу IP дээр заавал Certbot fail болно. Иймээс эхлээд DNS -&gt; Nginx -&gt; container health -&gt; HTTPS гэсэн дарааллаар шалгах нь зөв.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58521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C9A46"/>
                </a:solidFill>
                <a:latin typeface="Aptos Display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70432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Дүгнэлт ба дараагийн алхам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3317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0E8E6"/>
                </a:solidFill>
                <a:latin typeface="Aptos Display"/>
              </a:rPr>
              <a:t>Энэ төсөл дипломын хамгаалалтын workflow, production deploy, CI/CD pipeline, AI model orchestration суурь гэсэн дөрвөн гол чиглэлээр бүрэн системийн хэлбэрт ойртсон.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31920"/>
            <a:ext cx="4114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4187952"/>
            <a:ext cx="201168" cy="201168"/>
          </a:xfrm>
          <a:prstGeom prst="ellipse">
            <a:avLst/>
          </a:prstGeom>
          <a:solidFill>
            <a:srgbClr val="007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8" y="41148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Одоо байгаа үнэ цэнэ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4690872"/>
            <a:ext cx="3529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Дүрд суурилсан самбар, ажлын төлөв, файл илгээх, оноо, шүүмж, статистик, Docker байршуулалт, CI/CD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3931920"/>
            <a:ext cx="4114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13832" y="4187952"/>
            <a:ext cx="201168" cy="201168"/>
          </a:xfrm>
          <a:prstGeom prst="ellipse">
            <a:avLst/>
          </a:prstGeom>
          <a:solidFill>
            <a:srgbClr val="AD4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24728" y="41148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AI дараагийн шат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0408" y="4690872"/>
            <a:ext cx="3529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Placeholder inference-ийг бодит model server, preprocessing, audit log, monitoring, fallback strategy-тай болгох.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3931920"/>
            <a:ext cx="4114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48672" y="4187952"/>
            <a:ext cx="201168" cy="201168"/>
          </a:xfrm>
          <a:prstGeom prst="ellipse">
            <a:avLst/>
          </a:prstGeom>
          <a:solidFill>
            <a:srgbClr val="CC9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59567" y="41148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428"/>
                </a:solidFill>
                <a:latin typeface="Aptos"/>
              </a:rPr>
              <a:t>Production дараагийн шат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85248" y="4690872"/>
            <a:ext cx="3529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86065"/>
                </a:solidFill>
                <a:latin typeface="Aptos"/>
              </a:rPr>
              <a:t>DNS тогтворжуулах, HTTPS баталгаажуулах, secret rotation, backup automation, monitoring dashboard нэмэх.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708660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ECCCA"/>
                </a:solidFill>
                <a:latin typeface="Aptos"/>
              </a:rPr>
              <a:t>Бэлтгэсэн: төслийн repository-д үндэслэсэн Монгол хэлний товч танилцуулга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